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1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D4H DATA ANALYSIS AND REPORT WRITING PROJECT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74520"/>
            <a:ext cx="10607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of Trainers — Day 3: Wednesday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918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writing structure, tables, figures, and maps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4160520"/>
            <a:ext cx="1463040" cy="54864"/>
          </a:xfrm>
          <a:prstGeom prst="rect">
            <a:avLst/>
          </a:prstGeom>
          <a:solidFill>
            <a:srgbClr val="C98A2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62636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Sheraton Istanbul City Center · March 31, 2027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 AT A GLANCE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1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Schedule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21792" y="1554480"/>
            <a:ext cx="2619756" cy="4480560"/>
          </a:xfrm>
          <a:prstGeom prst="roundRect">
            <a:avLst>
              <a:gd name="adj" fmla="val 3490"/>
            </a:avLst>
          </a:prstGeom>
          <a:solidFill>
            <a:srgbClr val="1B315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2308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9:00–10:00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23088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debrief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IMRAD structure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7852" y="1554480"/>
            <a:ext cx="2619756" cy="4480560"/>
          </a:xfrm>
          <a:prstGeom prst="roundRect">
            <a:avLst>
              <a:gd name="adj" fmla="val 3490"/>
            </a:avLst>
          </a:prstGeom>
          <a:solidFill>
            <a:srgbClr val="0E7C8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43300" y="1737360"/>
            <a:ext cx="2308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11:00–12:30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43300" y="2103120"/>
            <a:ext cx="23088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for tables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exercise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53912" y="1554480"/>
            <a:ext cx="2619756" cy="4480560"/>
          </a:xfrm>
          <a:prstGeom prst="roundRect">
            <a:avLst>
              <a:gd name="adj" fmla="val 3490"/>
            </a:avLst>
          </a:prstGeom>
          <a:solidFill>
            <a:srgbClr val="1B315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09360" y="1737360"/>
            <a:ext cx="2308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14:00–15:30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103120"/>
            <a:ext cx="23088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for figures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exercise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19972" y="1554480"/>
            <a:ext cx="2619756" cy="4480560"/>
          </a:xfrm>
          <a:prstGeom prst="roundRect">
            <a:avLst>
              <a:gd name="adj" fmla="val 3490"/>
            </a:avLst>
          </a:prstGeom>
          <a:solidFill>
            <a:srgbClr val="0E7C8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075420" y="1737360"/>
            <a:ext cx="2308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16:00–16:30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075420" y="2103120"/>
            <a:ext cx="23088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maps in Excel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9:30–10:00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1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IMRAD Structure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78638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— background and objectives: why this topic matters and what decision it informs.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— data source, period, disaggregation approach, and a summary of cleaning decisions.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findings organized by objective, each with a supporting table or chart, in plain language.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— interpretation, clearly separated from recommendations, plus limitations.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869680" y="1737360"/>
            <a:ext cx="2651760" cy="2651760"/>
          </a:xfrm>
          <a:prstGeom prst="roundRect">
            <a:avLst>
              <a:gd name="adj" fmla="val 5172"/>
            </a:avLst>
          </a:prstGeom>
          <a:solidFill>
            <a:srgbClr val="0E7C86"/>
          </a:solidFill>
          <a:ln/>
        </p:spPr>
      </p:sp>
      <p:pic>
        <p:nvPicPr>
          <p:cNvPr id="6" name="Image 0" descr="/home/claude/package/pptx/icons/icon_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51460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11:00–12:30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1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for Tables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PUBLICATION-QUALITY CHECKLIST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54864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title stating the takeaway, not just the variable name.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sort order (e.g., rate descending), not alphabetical by default.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Sensible rounding — rates to one decimal place.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and date footnote.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Small-numbers flag preserved for any cell under 20 events.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355080" y="1417320"/>
            <a:ext cx="5257800" cy="4846320"/>
          </a:xfrm>
          <a:prstGeom prst="roundRect">
            <a:avLst>
              <a:gd name="adj" fmla="val 2264"/>
            </a:avLst>
          </a:prstGeom>
          <a:solidFill>
            <a:srgbClr val="C98A2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29400" y="1600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629400" y="2011680"/>
            <a:ext cx="47548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Pasting an entire raw PivotTable as the 'headline table.'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curate a top/bottom view or an aggregated version for the reader's actual decision need.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Paste Special → Picture when moving a finished table into Word.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14:00–15:30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1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for Figures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CHART TO FINDING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54864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over time → line chart.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comparison → sorted bar chart.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Part-to-whole → stacked bar (not pie beyond 3–4 slices).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lookup values → table, not chart.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355080" y="1417320"/>
            <a:ext cx="5257800" cy="4846320"/>
          </a:xfrm>
          <a:prstGeom prst="roundRect">
            <a:avLst>
              <a:gd name="adj" fmla="val 2264"/>
            </a:avLst>
          </a:prstGeom>
          <a:solidFill>
            <a:srgbClr val="1B315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29400" y="1600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FINISHING TOUCHES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629400" y="2011680"/>
            <a:ext cx="47548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takeaway-stating title, written before you build the chart.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labels shown directly on bars or points.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consistent, muted color palette across the whole report.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3-D effects, no heavy gridlines.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16:00–16:30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1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Maps in Excel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78638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map is justified by genuine spatial clustering or spread — not by default.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finding is simply 'District A higher than District B' with no spatial pattern, a sorted bar chart communicates the ranking more precisely.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→ Charts → Maps → Filled Map. Administrative unit names must match Excel/Bing's geographic name recognition.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deliberate color-scale breakpoints — don't accept the automatic default, which can visually overstate small differences.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869680" y="1737360"/>
            <a:ext cx="2651760" cy="2651760"/>
          </a:xfrm>
          <a:prstGeom prst="roundRect">
            <a:avLst>
              <a:gd name="adj" fmla="val 5172"/>
            </a:avLst>
          </a:prstGeom>
          <a:solidFill>
            <a:srgbClr val="0E7C86"/>
          </a:solidFill>
          <a:ln/>
        </p:spPr>
      </p:sp>
      <p:pic>
        <p:nvPicPr>
          <p:cNvPr id="6" name="Image 0" descr="/home/claude/package/pptx/icons/icon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51460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1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46888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 of Day 3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56616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Tomorrow: report templates, recommendations, and group project time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2026-09-18T02:09:38Z</dcterms:created>
  <dcterms:modified xsi:type="dcterms:W3CDTF">2026-09-18T02:09:38Z</dcterms:modified>
</cp:coreProperties>
</file>