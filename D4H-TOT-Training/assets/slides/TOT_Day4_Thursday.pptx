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315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146304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8FD3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D4H DATA ANALYSIS AND REPORT WRITING PROJECT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874520"/>
            <a:ext cx="1060704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Training of Trainers — Day 4: Thursday</a:t>
            </a:r>
            <a:endParaRPr lang="en-US" sz="40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3291840"/>
            <a:ext cx="106070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9D6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 templates, recommendations, and group project work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640080" y="4160520"/>
            <a:ext cx="1463040" cy="54864"/>
          </a:xfrm>
          <a:prstGeom prst="rect">
            <a:avLst/>
          </a:prstGeom>
          <a:solidFill>
            <a:srgbClr val="C98A2C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640080" y="6263640"/>
            <a:ext cx="10607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191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Sheraton Istanbul City Center · April 1, 2027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THURSDAY AT A GLANCE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31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Today's Schedule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621792" y="1554480"/>
            <a:ext cx="2619756" cy="4480560"/>
          </a:xfrm>
          <a:prstGeom prst="roundRect">
            <a:avLst>
              <a:gd name="adj" fmla="val 3490"/>
            </a:avLst>
          </a:prstGeom>
          <a:solidFill>
            <a:srgbClr val="1B3157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777240" y="1737360"/>
            <a:ext cx="23088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98A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9:00–10:00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777240" y="2103120"/>
            <a:ext cx="2308860" cy="3840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3 debrief</a:t>
            </a:r>
            <a:endParaRPr lang="en-US" sz="11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 template guidelines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387852" y="1554480"/>
            <a:ext cx="2619756" cy="4480560"/>
          </a:xfrm>
          <a:prstGeom prst="roundRect">
            <a:avLst>
              <a:gd name="adj" fmla="val 3490"/>
            </a:avLst>
          </a:prstGeom>
          <a:solidFill>
            <a:srgbClr val="0E7C86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3543300" y="1737360"/>
            <a:ext cx="23088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98A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11:00–12:30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3543300" y="2103120"/>
            <a:ext cx="2308860" cy="3840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Drafting recommendations</a:t>
            </a:r>
            <a:endParaRPr lang="en-US" sz="11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project check-in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153912" y="1554480"/>
            <a:ext cx="2619756" cy="4480560"/>
          </a:xfrm>
          <a:prstGeom prst="roundRect">
            <a:avLst>
              <a:gd name="adj" fmla="val 3490"/>
            </a:avLst>
          </a:prstGeom>
          <a:solidFill>
            <a:srgbClr val="1B3157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309360" y="1737360"/>
            <a:ext cx="23088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98A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14:00–14:30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6309360" y="2103120"/>
            <a:ext cx="2308860" cy="3840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methodologies (part 2)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8919972" y="1554480"/>
            <a:ext cx="2619756" cy="4480560"/>
          </a:xfrm>
          <a:prstGeom prst="roundRect">
            <a:avLst>
              <a:gd name="adj" fmla="val 3490"/>
            </a:avLst>
          </a:prstGeom>
          <a:solidFill>
            <a:srgbClr val="0E7C86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9075420" y="1737360"/>
            <a:ext cx="23088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98A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14:30–16:30</a:t>
            </a:r>
            <a:endParaRPr lang="en-US" sz="1100" dirty="0"/>
          </a:p>
        </p:txBody>
      </p:sp>
      <p:sp>
        <p:nvSpPr>
          <p:cNvPr id="15" name="Text 13"/>
          <p:cNvSpPr txBox="1"/>
          <p:nvPr/>
        </p:nvSpPr>
        <p:spPr>
          <a:xfrm>
            <a:off x="9075420" y="2103120"/>
            <a:ext cx="2308860" cy="3840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Teams continue group projects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9:30–10:00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31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Guidelines for Creating Report Templates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463040"/>
            <a:ext cx="7863840" cy="4754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spcAft>
                <a:spcPts val="1000"/>
              </a:spcAft>
              <a:buSzPct val="100000"/>
              <a:buChar char="▪"/>
            </a:pPr>
            <a:r>
              <a:rPr lang="en-US" sz="14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 sections: Executive Summary, Background &amp; Objectives, Data Sources &amp; Methods, Findings, Equity Considerations, Limitations, Recommendations, Annexes.</a:t>
            </a:r>
            <a:endParaRPr lang="en-US" sz="1400" dirty="0"/>
          </a:p>
          <a:p>
            <a:pPr marL="228600" indent="-228600">
              <a:spcAft>
                <a:spcPts val="1000"/>
              </a:spcAft>
              <a:buSzPct val="100000"/>
              <a:buChar char="▪"/>
            </a:pPr>
            <a:r>
              <a:rPr lang="en-US" sz="14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same structure, reused across every topic and future cycle, is what makes a report reproducible by someone other than the original team.</a:t>
            </a:r>
            <a:endParaRPr lang="en-US" sz="1400" dirty="0"/>
          </a:p>
          <a:p>
            <a:pPr marL="228600" indent="-228600">
              <a:spcAft>
                <a:spcPts val="1000"/>
              </a:spcAft>
              <a:buSzPct val="100000"/>
              <a:buChar char="▪"/>
            </a:pPr>
            <a:r>
              <a:rPr lang="en-US" sz="14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Sources &amp; Methods, and any sensitive district/facility detail, typically requires government review before publication.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8869680" y="1737360"/>
            <a:ext cx="2651760" cy="2651760"/>
          </a:xfrm>
          <a:prstGeom prst="roundRect">
            <a:avLst>
              <a:gd name="adj" fmla="val 5172"/>
            </a:avLst>
          </a:prstGeom>
          <a:solidFill>
            <a:srgbClr val="0E7C86"/>
          </a:solidFill>
          <a:ln/>
        </p:spPr>
      </p:sp>
      <p:pic>
        <p:nvPicPr>
          <p:cNvPr id="6" name="Image 0" descr="/home/claude/package/pptx/icons/icon_fil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46920" y="2514600"/>
            <a:ext cx="1097280" cy="109728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11:00–11:30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31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Drafting Appropriate Recommendations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41732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1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DISTINCT SENTENCE TYPES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783080"/>
            <a:ext cx="5486400" cy="4480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▪"/>
            </a:pPr>
            <a:r>
              <a:rPr lang="en-US" sz="13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Finding — what the data shows.</a:t>
            </a:r>
            <a:endParaRPr lang="en-US" sz="1350" dirty="0"/>
          </a:p>
          <a:p>
            <a:pPr marL="342900" indent="-342900">
              <a:spcAft>
                <a:spcPts val="800"/>
              </a:spcAft>
              <a:buSzPct val="100000"/>
              <a:buChar char="▪"/>
            </a:pPr>
            <a:r>
              <a:rPr lang="en-US" sz="13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Interpretation — what it might mean.</a:t>
            </a:r>
            <a:endParaRPr lang="en-US" sz="1350" dirty="0"/>
          </a:p>
          <a:p>
            <a:pPr marL="342900" indent="-342900">
              <a:spcAft>
                <a:spcPts val="800"/>
              </a:spcAft>
              <a:buSzPct val="100000"/>
              <a:buChar char="▪"/>
            </a:pPr>
            <a:r>
              <a:rPr lang="en-US" sz="13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 — what should be done.</a:t>
            </a:r>
            <a:endParaRPr lang="en-US" sz="1350" dirty="0"/>
          </a:p>
          <a:p>
            <a:pPr marL="342900" indent="-342900">
              <a:spcAft>
                <a:spcPts val="800"/>
              </a:spcAft>
              <a:buSzPct val="100000"/>
              <a:buChar char="▪"/>
            </a:pPr>
            <a:r>
              <a:rPr lang="en-US" sz="13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Never blend these into one sentence.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6355080" y="1417320"/>
            <a:ext cx="5257800" cy="4846320"/>
          </a:xfrm>
          <a:prstGeom prst="roundRect">
            <a:avLst>
              <a:gd name="adj" fmla="val 2264"/>
            </a:avLst>
          </a:prstGeom>
          <a:solidFill>
            <a:srgbClr val="C98A2C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6629400" y="1600200"/>
            <a:ext cx="4754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GOOD RECOMMENDATION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6629400" y="2011680"/>
            <a:ext cx="4754880" cy="4114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▪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Names a specific actor and a specific action.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▪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 'We recommend the Ministry's surveillance unit cross-verify District X's reporting completeness.'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▪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Follows logically from the findings already presented — no new, unsupported claims.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12:00–13:00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31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Group Project Check-In: Standard Review Rubric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463040"/>
            <a:ext cx="7863840" cy="4754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spcAft>
                <a:spcPts val="1000"/>
              </a:spcAft>
              <a:buSzPct val="100000"/>
              <a:buChar char="▪"/>
            </a:pPr>
            <a:r>
              <a:rPr lang="en-US" sz="14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 each report draft 1–4 on: structure/completeness, clarity, appropriate disaggregation, table/chart quality, clean finding/interpretation/recommendation separation.</a:t>
            </a:r>
            <a:endParaRPr lang="en-US" sz="1400" dirty="0"/>
          </a:p>
          <a:p>
            <a:pPr marL="228600" indent="-228600">
              <a:spcAft>
                <a:spcPts val="1000"/>
              </a:spcAft>
              <a:buSzPct val="100000"/>
              <a:buChar char="▪"/>
            </a:pPr>
            <a:r>
              <a:rPr lang="en-US" sz="14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Peer review catches clarity issues a fresh reader notices immediately; facilitator/mentor review checks deeper analytic accuracy.</a:t>
            </a:r>
            <a:endParaRPr lang="en-US" sz="1400" dirty="0"/>
          </a:p>
          <a:p>
            <a:pPr marL="228600" indent="-228600">
              <a:spcAft>
                <a:spcPts val="1000"/>
              </a:spcAft>
              <a:buSzPct val="100000"/>
              <a:buChar char="▪"/>
            </a:pPr>
            <a:r>
              <a:rPr lang="en-US" sz="14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Triage all feedback into a prioritized 'must fix' list of no more than five items.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8869680" y="1737360"/>
            <a:ext cx="2651760" cy="2651760"/>
          </a:xfrm>
          <a:prstGeom prst="roundRect">
            <a:avLst>
              <a:gd name="adj" fmla="val 5172"/>
            </a:avLst>
          </a:prstGeom>
          <a:solidFill>
            <a:srgbClr val="0E7C86"/>
          </a:solidFill>
          <a:ln/>
        </p:spPr>
      </p:sp>
      <p:pic>
        <p:nvPicPr>
          <p:cNvPr id="6" name="Image 0" descr="/home/claude/package/pptx/icons/icon_chec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46920" y="2514600"/>
            <a:ext cx="1097280" cy="109728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14:00–14:30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31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Training Methodologies (Part 2)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463040"/>
            <a:ext cx="7863840" cy="4754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spcAft>
                <a:spcPts val="1000"/>
              </a:spcAft>
              <a:buSzPct val="100000"/>
              <a:buChar char="▪"/>
            </a:pPr>
            <a:r>
              <a:rPr lang="en-US" sz="14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Behavior-specific feedback: 'I noticed / it had this effect / next time try' — never a generic 'good job.'</a:t>
            </a:r>
            <a:endParaRPr lang="en-US" sz="1400" dirty="0"/>
          </a:p>
          <a:p>
            <a:pPr marL="228600" indent="-228600">
              <a:spcAft>
                <a:spcPts val="1000"/>
              </a:spcAft>
              <a:buSzPct val="100000"/>
              <a:buChar char="▪"/>
            </a:pPr>
            <a:r>
              <a:rPr lang="en-US" sz="14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Coach a struggling co-facilitator with a subtle clarifying question rather than an obvious correction.</a:t>
            </a:r>
            <a:endParaRPr lang="en-US" sz="1400" dirty="0"/>
          </a:p>
          <a:p>
            <a:pPr marL="228600" indent="-228600">
              <a:spcAft>
                <a:spcPts val="1000"/>
              </a:spcAft>
              <a:buSzPct val="100000"/>
              <a:buChar char="▪"/>
            </a:pPr>
            <a:r>
              <a:rPr lang="en-US" sz="14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Recover from a live technical error by narrating the diagnostic process aloud — turn it into a teaching moment.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8869680" y="1737360"/>
            <a:ext cx="2651760" cy="2651760"/>
          </a:xfrm>
          <a:prstGeom prst="roundRect">
            <a:avLst>
              <a:gd name="adj" fmla="val 5172"/>
            </a:avLst>
          </a:prstGeom>
          <a:solidFill>
            <a:srgbClr val="0E7C86"/>
          </a:solidFill>
          <a:ln/>
        </p:spPr>
      </p:sp>
      <p:pic>
        <p:nvPicPr>
          <p:cNvPr id="6" name="Image 0" descr="/home/claude/package/pptx/icons/icon_ms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46920" y="2514600"/>
            <a:ext cx="1097280" cy="109728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14:30–16:30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31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Teams Continue Working on Group Projects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463040"/>
            <a:ext cx="7863840" cy="4754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spcAft>
                <a:spcPts val="1000"/>
              </a:spcAft>
              <a:buSzPct val="100000"/>
              <a:buChar char="▪"/>
            </a:pPr>
            <a:r>
              <a:rPr lang="en-US" sz="14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timed writing sprints (about 25 minutes) with brief check-ins, rather than one long unstructured block.</a:t>
            </a:r>
            <a:endParaRPr lang="en-US" sz="1400" dirty="0"/>
          </a:p>
          <a:p>
            <a:pPr marL="228600" indent="-228600">
              <a:spcAft>
                <a:spcPts val="1000"/>
              </a:spcAft>
              <a:buSzPct val="100000"/>
              <a:buChar char="▪"/>
            </a:pPr>
            <a:r>
              <a:rPr lang="en-US" sz="14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Resolve your prioritized must-fix list from this morning's check-in.</a:t>
            </a:r>
            <a:endParaRPr lang="en-US" sz="1400" dirty="0"/>
          </a:p>
          <a:p>
            <a:pPr marL="228600" indent="-228600">
              <a:spcAft>
                <a:spcPts val="1000"/>
              </a:spcAft>
              <a:buSzPct val="100000"/>
              <a:buChar char="▪"/>
            </a:pPr>
            <a:r>
              <a:rPr lang="en-US" sz="14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Begin adapting your headline findings into the standard PowerPoint presentation template for tomorrow.</a:t>
            </a:r>
            <a:endParaRPr lang="en-US" sz="1400" dirty="0"/>
          </a:p>
          <a:p>
            <a:pPr marL="228600" indent="-228600">
              <a:spcAft>
                <a:spcPts val="1000"/>
              </a:spcAft>
              <a:buSzPct val="100000"/>
              <a:buChar char="▪"/>
            </a:pPr>
            <a:r>
              <a:rPr lang="en-US" sz="14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complete rough draft covering every section beats a polished draft of only some sections — finish the skeleton first.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8869680" y="1737360"/>
            <a:ext cx="2651760" cy="2651760"/>
          </a:xfrm>
          <a:prstGeom prst="roundRect">
            <a:avLst>
              <a:gd name="adj" fmla="val 5172"/>
            </a:avLst>
          </a:prstGeom>
          <a:solidFill>
            <a:srgbClr val="0E7C86"/>
          </a:solidFill>
          <a:ln/>
        </p:spPr>
      </p:sp>
      <p:pic>
        <p:nvPicPr>
          <p:cNvPr id="6" name="Image 0" descr="/home/claude/package/pptx/icons/icon_edi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46920" y="2514600"/>
            <a:ext cx="1097280" cy="109728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B315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2468880"/>
            <a:ext cx="104241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End of Day 4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3566160"/>
            <a:ext cx="10424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C9D6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Tomorrow: final presentations, evaluation, and certification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2026-09-18T02:09:53Z</dcterms:created>
  <dcterms:modified xsi:type="dcterms:W3CDTF">2026-09-18T02:09:53Z</dcterms:modified>
</cp:coreProperties>
</file>