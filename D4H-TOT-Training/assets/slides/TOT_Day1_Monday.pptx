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1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D4H DATA ANALYSIS AND REPORT WRITING PROJECT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874520"/>
            <a:ext cx="10607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of Trainers — Day 1: Monday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9184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Foundations: the project, equity, and cleaning data in Excel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4160520"/>
            <a:ext cx="1463040" cy="54864"/>
          </a:xfrm>
          <a:prstGeom prst="rect">
            <a:avLst/>
          </a:prstGeom>
          <a:solidFill>
            <a:srgbClr val="C98A2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626364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Sheraton Istanbul City Center · March 29, 2027 · Bangladesh · Côte d'Ivoire · Rwanda · Tanzania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AT A GLANCE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1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Schedule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21792" y="1554480"/>
            <a:ext cx="2619756" cy="4480560"/>
          </a:xfrm>
          <a:prstGeom prst="roundRect">
            <a:avLst>
              <a:gd name="adj" fmla="val 3490"/>
            </a:avLst>
          </a:prstGeom>
          <a:solidFill>
            <a:srgbClr val="1B315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737360"/>
            <a:ext cx="23088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9:00–10:30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03120"/>
            <a:ext cx="23088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&amp; introductions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to the D4H project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TOT schedule &amp; team project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7852" y="1554480"/>
            <a:ext cx="2619756" cy="4480560"/>
          </a:xfrm>
          <a:prstGeom prst="roundRect">
            <a:avLst>
              <a:gd name="adj" fmla="val 3490"/>
            </a:avLst>
          </a:prstGeom>
          <a:solidFill>
            <a:srgbClr val="0E7C8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543300" y="1737360"/>
            <a:ext cx="23088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11:00–12:30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543300" y="2103120"/>
            <a:ext cx="23088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 of equity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projects: SOPs &amp; data-access challenges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53912" y="1554480"/>
            <a:ext cx="2619756" cy="4480560"/>
          </a:xfrm>
          <a:prstGeom prst="roundRect">
            <a:avLst>
              <a:gd name="adj" fmla="val 3490"/>
            </a:avLst>
          </a:prstGeom>
          <a:solidFill>
            <a:srgbClr val="1B315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09360" y="1737360"/>
            <a:ext cx="23088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13:30–15:30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2103120"/>
            <a:ext cx="23088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data analysis objectives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data in Excel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919972" y="1554480"/>
            <a:ext cx="2619756" cy="4480560"/>
          </a:xfrm>
          <a:prstGeom prst="roundRect">
            <a:avLst>
              <a:gd name="adj" fmla="val 3490"/>
            </a:avLst>
          </a:prstGeom>
          <a:solidFill>
            <a:srgbClr val="0E7C8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075420" y="1737360"/>
            <a:ext cx="23088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16:00–17:00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075420" y="2103120"/>
            <a:ext cx="23088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data sets in Excel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analyze data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9:30–10:00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1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the D4H Data Analysis Project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78638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strengthen government agencies' analytical and reporting capacity for surveillance and mortality data, including CRVS data where relevant.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principles: government-platform publication, government-led question setting, Excel-based descriptive analytics, health equity, government data ownership, SOP-based institutionalization.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Seven-phase project arc — from this week's TOT through recurring, institutionalized reporting.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8: build an in-country trainer cadre that sustains the work after this project ends.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869680" y="1737360"/>
            <a:ext cx="2651760" cy="2651760"/>
          </a:xfrm>
          <a:prstGeom prst="roundRect">
            <a:avLst>
              <a:gd name="adj" fmla="val 5172"/>
            </a:avLst>
          </a:prstGeom>
          <a:solidFill>
            <a:srgbClr val="0E7C86"/>
          </a:solidFill>
          <a:ln/>
        </p:spPr>
      </p:sp>
      <p:pic>
        <p:nvPicPr>
          <p:cNvPr id="6" name="Image 0" descr="/home/claude/package/pptx/icons/icon_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51460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11:00–11:30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1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Principles of Equity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548640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results down by sex, location, and an available socioeconomic proxy.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policymaker should see who is most affected — not only an average.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any disaggregated cell under 20 events as 'interpret with caution' rather than calculating a rate for it.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355080" y="1417320"/>
            <a:ext cx="5257800" cy="4846320"/>
          </a:xfrm>
          <a:prstGeom prst="roundRect">
            <a:avLst>
              <a:gd name="adj" fmla="val 2264"/>
            </a:avLst>
          </a:prstGeom>
          <a:solidFill>
            <a:srgbClr val="C98A2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629400" y="16002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 THAT WORKS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629400" y="2011680"/>
            <a:ext cx="47548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equity gaps as targeting information for resource allocation.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frame a gap as a performance judgment of a district or agency.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transparency about the data and method if a stakeholder reacts defensively.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13:30–14:30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1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Establish Data Analysis Objectives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78638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objective is specific and answerable: you can say exactly what analysis would answer it, and what the result looks like.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Weak: “analyze malaria.”  Strong: “Identify whether rural districts show a higher malaria rate than urban districts, to target outreach resources.”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objective should trace back to a real government decision or bulletin it will inform.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2–4 objectives for your team's priority topic before the next session.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869680" y="1737360"/>
            <a:ext cx="2651760" cy="2651760"/>
          </a:xfrm>
          <a:prstGeom prst="roundRect">
            <a:avLst>
              <a:gd name="adj" fmla="val 5172"/>
            </a:avLst>
          </a:prstGeom>
          <a:solidFill>
            <a:srgbClr val="0E7C86"/>
          </a:solidFill>
          <a:ln/>
        </p:spPr>
      </p:sp>
      <p:pic>
        <p:nvPicPr>
          <p:cNvPr id="6" name="Image 0" descr="/home/claude/package/pptx/icons/icon_ed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51460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14:30–15:30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1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 Data in Excel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78638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classic problems: duplicate records, inconsistent category spelling, blank cells, and out-of-range values.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functions: TRIM(), PROPER(), SUBSTITUTE(), IFS() for recoding, COUNTIF()/COUNTIFS() for duplicates.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flag a problem in a new column — never silently delete a row. This preserves the audit trail your future SOP depends on.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file: Data_Cleaning_Practice.xlsx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869680" y="1737360"/>
            <a:ext cx="2651760" cy="2651760"/>
          </a:xfrm>
          <a:prstGeom prst="roundRect">
            <a:avLst>
              <a:gd name="adj" fmla="val 5172"/>
            </a:avLst>
          </a:prstGeom>
          <a:solidFill>
            <a:srgbClr val="0E7C86"/>
          </a:solidFill>
          <a:ln/>
        </p:spPr>
      </p:sp>
      <p:pic>
        <p:nvPicPr>
          <p:cNvPr id="6" name="Image 0" descr="/home/claude/package/pptx/icons/icon_d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51460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16:00–17:00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1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Combining Data Sets &amp; Team Analysis Time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78638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INDEX/MATCH is the standard join method — more resilient than VLOOKUP to column reordering.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use the exact-match argument (the final 0 in MATCH) — omitting it is the most common silent lookup error.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Remainder of the session: apply today's cleaning and joining skills to your own team's five-year priority-topic dataset.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869680" y="1737360"/>
            <a:ext cx="2651760" cy="2651760"/>
          </a:xfrm>
          <a:prstGeom prst="roundRect">
            <a:avLst>
              <a:gd name="adj" fmla="val 5172"/>
            </a:avLst>
          </a:prstGeom>
          <a:solidFill>
            <a:srgbClr val="0E7C86"/>
          </a:solidFill>
          <a:ln/>
        </p:spPr>
      </p:sp>
      <p:pic>
        <p:nvPicPr>
          <p:cNvPr id="6" name="Image 0" descr="/home/claude/package/pptx/icons/icon_tr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51460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31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468880"/>
            <a:ext cx="10424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 of Day 1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56616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Tomorrow: descriptive statistics, census-based rates, and PivotTables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2026-09-18T02:08:56Z</dcterms:created>
  <dcterms:modified xsi:type="dcterms:W3CDTF">2026-09-18T02:08:56Z</dcterms:modified>
</cp:coreProperties>
</file>